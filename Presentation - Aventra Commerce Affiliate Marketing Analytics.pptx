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lear Sans" panose="020B0604020202020204" charset="0"/>
      <p:regular r:id="rId14"/>
    </p:embeddedFont>
    <p:embeddedFont>
      <p:font typeface="Clear Sans Bold" panose="020B0604020202020204" charset="0"/>
      <p:regular r:id="rId15"/>
    </p:embeddedFont>
    <p:embeddedFont>
      <p:font typeface="Clear Sans Medium" panose="020B0604020202020204" charset="0"/>
      <p:regular r:id="rId16"/>
    </p:embeddedFont>
    <p:embeddedFont>
      <p:font typeface="Tenor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191915"/>
            <a:ext cx="9763125" cy="7463416"/>
            <a:chOff x="0" y="161925"/>
            <a:chExt cx="13017500" cy="9951221"/>
          </a:xfrm>
        </p:grpSpPr>
        <p:sp>
          <p:nvSpPr>
            <p:cNvPr id="3" name="TextBox 3"/>
            <p:cNvSpPr txBox="1"/>
            <p:nvPr/>
          </p:nvSpPr>
          <p:spPr>
            <a:xfrm>
              <a:off x="0" y="161925"/>
              <a:ext cx="13017500" cy="7961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231"/>
                </a:lnSpc>
              </a:pPr>
              <a:r>
                <a:rPr lang="en-US" sz="9231" spc="-184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Aventra Commerce: Affiliate Marketing Analytics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633167"/>
              <a:ext cx="13017500" cy="1479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ALVIN FRANCIS FERNANDES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2026-03-21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7" name="Freeform 7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9763125" cy="6121604"/>
            <a:chOff x="0" y="0"/>
            <a:chExt cx="13017500" cy="8162138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Business Problem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3739"/>
              <a:ext cx="130175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AVENTRA COMMERCE CHALLENGES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27522"/>
              <a:ext cx="13017500" cy="3434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Aventra Commerce, a mid-sized e-commerce marketplace, faces several core challenges:</a:t>
              </a: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099" dirty="0">
                <a:solidFill>
                  <a:srgbClr val="F3F4F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Inconsistent conversions across various markets and devices.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Many users remain stuck in early funnel stages.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impact of discounts on conversions is unclear.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Low ROI from specific traffic sources.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4F6"/>
                </a:solidFill>
                <a:latin typeface="Tenor Sans"/>
                <a:ea typeface="Tenor Sans"/>
                <a:cs typeface="Tenor Sans"/>
                <a:sym typeface="Tenor Sans"/>
              </a:rPr>
              <a:t>Executive Summary 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1562086"/>
            <a:ext cx="6886575" cy="1944877"/>
            <a:chOff x="0" y="0"/>
            <a:chExt cx="9182100" cy="2593170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TOP REVENUE MARKETS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46176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Canada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the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lead revenue generation, showcasing strong commission values that provide a solid foundation for future growth initiatives.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34675" y="4248150"/>
            <a:ext cx="6886575" cy="1944732"/>
            <a:chOff x="0" y="0"/>
            <a:chExt cx="9182100" cy="2592977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BEST TRAFFIC SOURCES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45982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Organic Search and Social Media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emerge as the most effective traffic sources, delivering high conversion rates and substantial revenue contributions.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6934200"/>
            <a:ext cx="6886575" cy="1944864"/>
            <a:chOff x="0" y="0"/>
            <a:chExt cx="9182100" cy="259315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47625"/>
              <a:ext cx="91821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MOBILE CHALLENGES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6158"/>
              <a:ext cx="91821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While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mobile devices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drive awareness, they struggle with low conversion rates, indicating a need for improved user experience and optimized checkout processes.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67228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680" r="-78985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5" name="TextBox 5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REVENUE AND ENGAGEMENT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Canada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leads with </a:t>
              </a:r>
              <a:r>
                <a:rPr lang="en-US" sz="2099" b="1" dirty="0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$297 in commission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followed closely by the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at </a:t>
              </a:r>
              <a:r>
                <a:rPr lang="en-US" sz="2099" b="1" dirty="0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$275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. Germany and Australia show promising engagement levels.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Market Performance Insights and Revenue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8324850" cy="4926262"/>
            <a:chOff x="0" y="0"/>
            <a:chExt cx="11099800" cy="65683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85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</a:pPr>
              <a:r>
                <a:rPr lang="en-US" sz="7000" spc="-140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Traffic Source Effectiveness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66806"/>
              <a:ext cx="11099800" cy="508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ANALYZING PERFORMANCE ACROSS KEY CHANNELS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46535"/>
              <a:ext cx="11099800" cy="1821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Organic Search: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highest conversion rates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Social Media: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largest engaged user base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Audio &amp; Fitness: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 commission per conversion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Streaming: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lowest conversion rate observed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24153" y="0"/>
            <a:ext cx="7463847" cy="10287000"/>
            <a:chOff x="0" y="0"/>
            <a:chExt cx="1196591" cy="1649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6591" cy="1649194"/>
            </a:xfrm>
            <a:custGeom>
              <a:avLst/>
              <a:gdLst/>
              <a:ahLst/>
              <a:cxnLst/>
              <a:rect l="l" t="t" r="r" b="b"/>
              <a:pathLst>
                <a:path w="1196591" h="1649194">
                  <a:moveTo>
                    <a:pt x="0" y="0"/>
                  </a:moveTo>
                  <a:lnTo>
                    <a:pt x="1196591" y="0"/>
                  </a:lnTo>
                  <a:lnTo>
                    <a:pt x="1196591" y="1649194"/>
                  </a:lnTo>
                  <a:lnTo>
                    <a:pt x="0" y="1649194"/>
                  </a:lnTo>
                  <a:close/>
                </a:path>
              </a:pathLst>
            </a:custGeom>
            <a:blipFill>
              <a:blip r:embed="rId2"/>
              <a:stretch>
                <a:fillRect l="-39374" r="-105646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3735602"/>
            <a:chOff x="0" y="0"/>
            <a:chExt cx="13017500" cy="4980803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017500" cy="1407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Funnel Analysis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40026"/>
              <a:ext cx="130175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DEVICE PERFORMANCE INSIGHTS IN USER BEHAVIOR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33809"/>
              <a:ext cx="130175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 behavior analysis reveals that </a:t>
              </a:r>
              <a:r>
                <a:rPr lang="en-US" sz="2099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mobile devices</a:t>
              </a:r>
              <a:r>
                <a:rPr lang="en-US" sz="2099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generate high awareness but suffer from low purchase rates, while desktops show smoother progression through the purchasing funnel.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115050" cy="10287000"/>
            <a:chOff x="0" y="0"/>
            <a:chExt cx="639995" cy="10766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9995" cy="1076628"/>
            </a:xfrm>
            <a:custGeom>
              <a:avLst/>
              <a:gdLst/>
              <a:ahLst/>
              <a:cxnLst/>
              <a:rect l="l" t="t" r="r" b="b"/>
              <a:pathLst>
                <a:path w="639995" h="1076628">
                  <a:moveTo>
                    <a:pt x="0" y="0"/>
                  </a:moveTo>
                  <a:lnTo>
                    <a:pt x="639995" y="0"/>
                  </a:lnTo>
                  <a:lnTo>
                    <a:pt x="639995" y="1076628"/>
                  </a:lnTo>
                  <a:lnTo>
                    <a:pt x="0" y="1076628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858125" y="1562100"/>
            <a:ext cx="9763125" cy="4631006"/>
            <a:chOff x="0" y="0"/>
            <a:chExt cx="13017500" cy="6174675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017500" cy="4223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Understanding User Engagement in Digital Marketing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27681"/>
              <a:ext cx="13017500" cy="1446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Analyzing user engagement reveals that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time on page is not correlated with conversions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sz="2099" dirty="0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highlighting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the effectiveness of Social Media in driving interactions.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8324850" cy="5269162"/>
            <a:chOff x="0" y="0"/>
            <a:chExt cx="11099800" cy="702555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85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</a:pPr>
              <a:r>
                <a:rPr lang="en-US" sz="7000" spc="-140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Product &amp; Pricing Strategy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66806"/>
              <a:ext cx="11099800" cy="508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INSIGHTS ON CATEGORIES AND DISCOUNTS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46535"/>
              <a:ext cx="11099800" cy="2279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Electronics and Kitchen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dominate sales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Discounts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drive </a:t>
              </a: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68%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conversions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Moderate discounts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maximize overall revenue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High discounts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reduce profitability</a:t>
              </a:r>
            </a:p>
            <a:p>
              <a:pPr marL="453390" lvl="1" indent="-226695" algn="l">
                <a:lnSpc>
                  <a:spcPts val="2730"/>
                </a:lnSpc>
                <a:buFont typeface="Arial"/>
                <a:buChar char="•"/>
              </a:pP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Furniture category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underutilized for commissions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774635" y="7396104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9763125" cy="3047829"/>
            <a:chOff x="0" y="0"/>
            <a:chExt cx="13017500" cy="406377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Recommendations for Improved Performance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3739"/>
              <a:ext cx="130175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STRATEGIC INSIGHTS AND ACTIONS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562100"/>
            <a:ext cx="9763125" cy="5005915"/>
            <a:chOff x="0" y="0"/>
            <a:chExt cx="13017500" cy="6674552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F3F4F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Optimize Mobile Conversion Strategies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3739"/>
              <a:ext cx="130175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ENHANCE USER EXPERIENCE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727523"/>
              <a:ext cx="13017500" cy="1947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Simplify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mobile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checkout flows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Optimize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landing pages, clearer call-to-action</a:t>
              </a: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buttons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Implement a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user-friendly interface</a:t>
              </a:r>
            </a:p>
            <a:p>
              <a:pPr marL="453390" lvl="1" indent="-226695" algn="l">
                <a:lnSpc>
                  <a:spcPts val="293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99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Streamline </a:t>
              </a:r>
              <a:r>
                <a:rPr lang="en-US" sz="2099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payment options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150568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3352800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F3F4F6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6400" y="6934200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F3F4F6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1562100"/>
            <a:ext cx="6886575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4F6"/>
                </a:solidFill>
                <a:latin typeface="Tenor Sans"/>
                <a:ea typeface="Tenor Sans"/>
                <a:cs typeface="Tenor Sans"/>
                <a:sym typeface="Tenor Sans"/>
              </a:rPr>
              <a:t>High-Performing Channels &amp; Markets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734675" y="2277497"/>
            <a:ext cx="6886575" cy="3718587"/>
            <a:chOff x="0" y="0"/>
            <a:chExt cx="9182100" cy="4958116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MEDIA CHANNELS WITH POTENTIAL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19211"/>
              <a:ext cx="9182100" cy="3938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Investing further in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Organic Search and social media</a:t>
              </a: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will capitalize on high conversion rates and strong engagement. 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>
                <a:solidFill>
                  <a:srgbClr val="F3F4F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Optimize Audio and Fitness platforms to improve conversion efficiency, as they already generate high commission per sale.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>
                <a:solidFill>
                  <a:srgbClr val="F3F4F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6934200"/>
            <a:ext cx="6886575" cy="2232687"/>
            <a:chOff x="0" y="0"/>
            <a:chExt cx="9182100" cy="2976916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91821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AUSTRALIA AND GERMANY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19211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Expanding marketing efforts in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Germany and Australia</a:t>
              </a: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can leverage high engagement and average order values, tapping into these markets for greater revenue potential and brand recognition.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3352800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F3F4F6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96400" y="6934200"/>
            <a:ext cx="1133475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>
                <a:solidFill>
                  <a:srgbClr val="F3F4F6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1562100"/>
            <a:ext cx="6886575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F3F4F6"/>
                </a:solidFill>
                <a:latin typeface="Tenor Sans"/>
                <a:ea typeface="Tenor Sans"/>
                <a:cs typeface="Tenor Sans"/>
                <a:sym typeface="Tenor Sans"/>
              </a:rPr>
              <a:t>Refine Discounting Strategy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734675" y="3352800"/>
            <a:ext cx="6886575" cy="2232687"/>
            <a:chOff x="0" y="0"/>
            <a:chExt cx="9182100" cy="2976916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91821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TIERED DISCOUNTS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19211"/>
              <a:ext cx="9182100" cy="195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Implement a </a:t>
              </a:r>
              <a:r>
                <a:rPr lang="en-US" sz="21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tiered discount strategy</a:t>
              </a:r>
              <a:r>
                <a:rPr lang="en-US" sz="210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that maintains moderate discounts (10–20%) as a standard, increasing during peak seasons to drive sales while maximizing profitability.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34675" y="6934200"/>
            <a:ext cx="6886575" cy="2224745"/>
            <a:chOff x="0" y="0"/>
            <a:chExt cx="9182100" cy="2966325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91821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PRODUCT PROMOTION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19211"/>
              <a:ext cx="9182100" cy="1947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Actively promote </a:t>
              </a:r>
              <a:r>
                <a:rPr lang="en-US" sz="2100" b="1" dirty="0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Electronics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</a:t>
              </a:r>
              <a:r>
                <a:rPr lang="en-US" sz="2100" b="1" dirty="0">
                  <a:solidFill>
                    <a:srgbClr val="F3F4F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Kitchen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and premium appliances to harness their high commission potential. Furthermore, promote </a:t>
              </a:r>
              <a:r>
                <a:rPr lang="en-US" sz="2100" b="1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Furniture</a:t>
              </a:r>
              <a:r>
                <a:rPr lang="en-US" sz="2100" dirty="0">
                  <a:solidFill>
                    <a:srgbClr val="F3F4F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category to add another high commission category to our business. 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3137432" y="7200900"/>
            <a:ext cx="627486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488</Words>
  <Application>Microsoft Office PowerPoint</Application>
  <PresentationFormat>Custom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Clear Sans</vt:lpstr>
      <vt:lpstr>Clear Sans Medium</vt:lpstr>
      <vt:lpstr>Tenor Sans</vt:lpstr>
      <vt:lpstr>Clear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Aventra Commerce: Affiliate Marketing Analytics</dc:title>
  <dc:description>Presentation - Aventra Commerce: Affiliate Marketing Analytics</dc:description>
  <cp:lastModifiedBy>Alvin Fernandes</cp:lastModifiedBy>
  <cp:revision>2</cp:revision>
  <dcterms:created xsi:type="dcterms:W3CDTF">2006-08-16T00:00:00Z</dcterms:created>
  <dcterms:modified xsi:type="dcterms:W3CDTF">2026-03-21T10:36:09Z</dcterms:modified>
  <dc:identifier>DAHEj-7Ez58</dc:identifier>
</cp:coreProperties>
</file>